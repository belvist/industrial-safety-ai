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1AC"/>
                </a:solidFill>
                <a:latin typeface="Helvetica Neue"/>
              </a:rPr>
              <a:t>ОТКРОЙ#МОСПРОМ · КЕЙС LINQ / ХАЙТЕК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2F3F5"/>
                </a:solidFill>
                <a:latin typeface="Helvetica Neue"/>
              </a:rPr>
              <a:t>Industrial Safety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AA1AC"/>
                </a:solidFill>
                <a:latin typeface="Helvetica Neue"/>
              </a:rPr>
              <a:t>Не детектор нарушений.
Система, которая предупреждает до происшествия.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572000"/>
            <a:ext cx="36576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F5"/>
                </a:solidFill>
                <a:latin typeface="Helvetica Neue"/>
              </a:rPr>
              <a:t>PPE на LinQ TPU · Predictive Safety Radar · Explainable Replay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1AC"/>
                </a:solidFill>
                <a:latin typeface="Helvetica Neue"/>
              </a:rPr>
              <a:t>24 октября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1AC"/>
                </a:solidFill>
                <a:latin typeface="Helvetica Neue"/>
              </a:rPr>
              <a:t>Industrial Safety AI × LinQ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1AC"/>
                </a:solidFill>
                <a:latin typeface="Helvetica Neue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1AC"/>
                </a:solidFill>
                <a:latin typeface="Helvetica Neue"/>
              </a:rPr>
              <a:t>ЗАДАЧА ОРГАНИЗАТОРОВ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2F3F5"/>
                </a:solidFill>
                <a:latin typeface="Helvetica Neue"/>
              </a:rPr>
              <a:t>Что требует кейс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Принимать видео с камер и изображения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Распознавать нарушения нейросетями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Оповещать оператора оперативно, со снимком и временем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Не повторять тревогу на одно непрерывное нарушение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Вести журнал и фильтры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Выполнять инференс на LinQ TPU с измерением скорости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1AC"/>
                </a:solidFill>
                <a:latin typeface="Helvetica Neue"/>
              </a:rPr>
              <a:t>Слайд 13 кейса — шесть обязательных пунктов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783080"/>
            <a:ext cx="4297680" cy="3931920"/>
          </a:xfrm>
          <a:prstGeom prst="rect">
            <a:avLst/>
          </a:prstGeom>
          <a:solidFill>
            <a:srgbClr val="16181D"/>
          </a:solidFill>
          <a:ln>
            <a:solidFill>
              <a:srgbClr val="2A2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20574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Helvetica Neue"/>
              </a:rPr>
              <a:t>Восемь ситуаций на слайде 4 —
примеры, а не восемь обязательных моделей.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324612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1AC"/>
                </a:solidFill>
                <a:latin typeface="Helvetica Neue"/>
              </a:rPr>
              <a:t>Кейс разрешает выбрать приоритетные сценарии,
но требует расширяемую архитектуру.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443484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F5"/>
                </a:solidFill>
                <a:latin typeface="Helvetica Neue"/>
              </a:rPr>
              <a:t>Мы выбрали: Safety Radar + зоны +
PPE как дополнительный модуль.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1AC"/>
                </a:solidFill>
                <a:latin typeface="Helvetica Neue"/>
              </a:rPr>
              <a:t>Industrial Safety AI × LinQ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1AC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1AC"/>
                </a:solidFill>
                <a:latin typeface="Helvetica Neue"/>
              </a:rPr>
              <a:t>ПРОБЛЕМА ПРЕДПРИЯТИЯ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2F3F5"/>
                </a:solidFill>
                <a:latin typeface="Helvetica Neue"/>
              </a:rPr>
              <a:t>Почему обычное видеонаблюдение не спасает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7665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Камера фиксирует нарушение, когда оно уже произошло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Оператор смотрит десятки потоков и пропускает события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Тревоги дублируются, оператор перестаёт на них реагировать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Нет доказательства: что именно произошло и почему сработало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Нет ответа на вопрос «где у нас повторяющийся риск»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87451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AA1AC"/>
                </a:solidFill>
                <a:latin typeface="Helvetica Neue"/>
              </a:rPr>
              <a:t>Наша ставка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28600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2F3F5"/>
                </a:solidFill>
                <a:latin typeface="Helvetica Neue"/>
              </a:rPr>
              <a:t>Предупредить
до входа в зону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388620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2C55E"/>
                </a:solidFill>
                <a:latin typeface="Helvetica Neue"/>
              </a:rPr>
              <a:t>И объяснить
каждое решение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1AC"/>
                </a:solidFill>
                <a:latin typeface="Helvetica Neue"/>
              </a:rPr>
              <a:t>Industrial Safety AI × LinQ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1AC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1AC"/>
                </a:solidFill>
                <a:latin typeface="Helvetica Neue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2F3F5"/>
                </a:solidFill>
                <a:latin typeface="Helvetica Neue"/>
              </a:rPr>
              <a:t>Где считается что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60704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200400"/>
                <a:gridCol w="4389120"/>
              </a:tblGrid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Слой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Где исполняется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Что делает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PPE-сеть (YOLO, 14 классов)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LinQ TPU, worker PID 7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детекция СИЗ, 8–13 мс на кадр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Person-детектор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CPU, models/person.onnx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находит людей для трекинга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Tracking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CPU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стабильные ID работников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Safety Radar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CPU, 0.20 мс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траектория, прогноз, WARNING/CRITICAL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Правила + TemporalEngine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CPU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подтверждение, антидубли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Evidence Replay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CPU → H.264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видеофрагмент вокруг события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Журнал + аналитика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SQLite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фильтры, статистика, экспорт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Helvetica Neue"/>
              </a:rPr>
              <a:t>Честно: PPE — на TPU. Person и вся аналитика — на CPU.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1AC"/>
                </a:solidFill>
                <a:latin typeface="Helvetica Neue"/>
              </a:rPr>
              <a:t>Причина: у PPE-модели голова person нерабочая (max ≈ 0.002).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1AC"/>
                </a:solidFill>
                <a:latin typeface="Helvetica Neue"/>
              </a:rPr>
              <a:t>Industrial Safety AI × LinQ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1AC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1AC"/>
                </a:solidFill>
                <a:latin typeface="Helvetica Neue"/>
              </a:rPr>
              <a:t>ОСНОВНОЙ СЦЕНАРИЙ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2F3F5"/>
                </a:solidFill>
                <a:latin typeface="Helvetica Neue"/>
              </a:rPr>
              <a:t>Работает на реальном видео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94360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F2F3F5"/>
                </a:solidFill>
                <a:latin typeface="Helvetica Neue"/>
              </a:rPr>
              <a:t>—  Оператор рисует именованные зоны прямо на кадре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F2F3F5"/>
                </a:solidFill>
                <a:latin typeface="Helvetica Neue"/>
              </a:rPr>
              <a:t>—  Система ведёт трек работника и его историю движения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F2F3F5"/>
                </a:solidFill>
                <a:latin typeface="Helvetica Neue"/>
              </a:rPr>
              <a:t>—  Radar считает приближение к ближайшей границе зоны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F2F3F5"/>
                </a:solidFill>
                <a:latin typeface="Helvetica Neue"/>
              </a:rPr>
              <a:t>—  WARNING до входа, CRITICAL после подтверждённого входа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F2F3F5"/>
                </a:solidFill>
                <a:latin typeface="Helvetica Neue"/>
              </a:rPr>
              <a:t>—  Один инцидент на одно непрерывное нарушение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F2F3F5"/>
                </a:solidFill>
                <a:latin typeface="Helvetica Neue"/>
              </a:rPr>
              <a:t>—  H.264-фрагмент и объяснение привязаны к событию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23760" y="1920240"/>
          <a:ext cx="4023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463040"/>
              </a:tblGrid>
              <a:tr h="31089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Событие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Время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WARNING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5.81 с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CRITICAL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6.61 с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Подтверждение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7.21 с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Опережение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0.80 с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23760" y="3794760"/>
            <a:ext cx="4023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1AC"/>
                </a:solidFill>
                <a:latin typeface="Helvetica Neue"/>
              </a:rPr>
              <a:t>Опережение измерено на выбранном видео,
а не гарантировано для любого производства.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1AC"/>
                </a:solidFill>
                <a:latin typeface="Helvetica Neue"/>
              </a:rPr>
              <a:t>Industrial Safety AI × LinQ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1AC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1AC"/>
                </a:solidFill>
                <a:latin typeface="Helvetica Neue"/>
              </a:rPr>
              <a:t>KILLER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2F3F5"/>
                </a:solidFill>
                <a:latin typeface="Helvetica Neue"/>
              </a:rPr>
              <a:t>Predictive Safety 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03504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F2F3F5"/>
                </a:solidFill>
                <a:latin typeface="Helvetica Neue"/>
              </a:rPr>
              <a:t>—  История foot-point с реальными timestamps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F2F3F5"/>
                </a:solidFill>
                <a:latin typeface="Helvetica Neue"/>
              </a:rPr>
              <a:t>—  Сглаженное направление и скорость в нормализованных координатах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F2F3F5"/>
                </a:solidFill>
                <a:latin typeface="Helvetica Neue"/>
              </a:rPr>
              <a:t>—  Прогноз на 1.5 с и пересечение с БЛИЖАЙШЕЙ границей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F2F3F5"/>
                </a:solidFill>
                <a:latin typeface="Helvetica Neue"/>
              </a:rPr>
              <a:t>—  Точка входа показывается на кадре пунктиром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F2F3F5"/>
                </a:solidFill>
                <a:latin typeface="Helvetica Neue"/>
              </a:rPr>
              <a:t>—  Нет данных — нет прогноза: остановка, разворот, потеря трека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F2F3F5"/>
                </a:solidFill>
                <a:latin typeface="Helvetica Neue"/>
              </a:rPr>
              <a:t>—  UNKNOWN вместо ложного «всё нормально»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828800"/>
            <a:ext cx="4114800" cy="3566160"/>
          </a:xfrm>
          <a:prstGeom prst="rect">
            <a:avLst/>
          </a:prstGeom>
          <a:solidFill>
            <a:srgbClr val="16181D"/>
          </a:solidFill>
          <a:ln>
            <a:solidFill>
              <a:srgbClr val="2A2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2057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AA1AC"/>
                </a:solidFill>
                <a:latin typeface="Helvetica Neue"/>
              </a:rPr>
              <a:t>Что НЕ обещаем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514600"/>
            <a:ext cx="365760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D5D8DD"/>
                </a:solidFill>
                <a:latin typeface="Helvetica Neue"/>
              </a:rPr>
              <a:t>—  метры и м/с без калибровки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D5D8DD"/>
                </a:solidFill>
                <a:latin typeface="Helvetica Neue"/>
              </a:rPr>
              <a:t>—  точное время до столкновения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D5D8DD"/>
                </a:solidFill>
                <a:latin typeface="Helvetica Neue"/>
              </a:rPr>
              <a:t>—  вероятность аварии в процентах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D5D8DD"/>
                </a:solidFill>
                <a:latin typeface="Helvetica Neue"/>
              </a:rPr>
              <a:t>—  детекцию погрузчика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892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2C55E"/>
                </a:solidFill>
                <a:latin typeface="Helvetica Neue"/>
              </a:rPr>
              <a:t>Только измеренная геометрия кадра.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1AC"/>
                </a:solidFill>
                <a:latin typeface="Helvetica Neue"/>
              </a:rPr>
              <a:t>Industrial Safety AI × LinQ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1AC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1AC"/>
                </a:solidFill>
                <a:latin typeface="Helvetica Neue"/>
              </a:rPr>
              <a:t>ДОКАЗАТЕЛЬСТВО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2F3F5"/>
                </a:solidFill>
                <a:latin typeface="Helvetica Neue"/>
              </a:rPr>
              <a:t>WARNING → CRITICAL → Replay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60704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400800"/>
              </a:tblGrid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Сценарий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Результат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Безопасный проход вне зоны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0 предупреждений, 0 инцидентов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Вход в зону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WARNING → CRITICAL → 1 инцидент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Повторный вход (U-зона)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2 episode_id → 2 инцидента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Две именованные зоны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по одному инциденту в каждой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Параллельное движение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без ложного WARNING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Остановка перед границей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предупреждение снимается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Потеря наблюдения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UNKNOWN, не ложный NORMAL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715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2C55E"/>
                </a:solidFill>
                <a:latin typeface="Helvetica Neue"/>
              </a:rPr>
              <a:t>Каждое событие → журнал → H.264-фрагмент → решение оператора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1AC"/>
                </a:solidFill>
                <a:latin typeface="Helvetica Neue"/>
              </a:rPr>
              <a:t>Industrial Safety AI × LinQ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1AC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1AC"/>
                </a:solidFill>
                <a:latin typeface="Helvetica Neue"/>
              </a:rPr>
              <a:t>ИЗМЕРЕНИЯ · ГЛАВНОЕ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2F3F5"/>
                </a:solidFill>
                <a:latin typeface="Helvetica Neue"/>
              </a:rPr>
              <a:t>Рабочий режим: 5 FPS с настоящим TPU PPE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566928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</a:tblGrid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Метрика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Значение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Motion / Radar / Analytics FPS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5.000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Person FPS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5.000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TPU запросов/с (async)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0.800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PPE применено/с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0.633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Dropped / PPE stale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0 / 0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Возраст кадра p50 / p95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67.2 / 87.4 мс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PPE applied age p50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1000 мс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CPU (1 ядро)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65 %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1783080"/>
          <a:ext cx="448056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463040"/>
              </a:tblGrid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Стадия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p50, мс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CPU person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62.7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Tracking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0.03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Safety Radar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0.20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Analytics commit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2.73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End-to-end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67.2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TPU PPE (async)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969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2C55E"/>
                </a:solidFill>
                <a:latin typeface="Helvetica Neue"/>
              </a:rPr>
              <a:t>Radar не ждёт TPU: PPE приходит асинхронно и привязывается к своему исходному кадру.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1AC"/>
                </a:solidFill>
                <a:latin typeface="Helvetica Neue"/>
              </a:rPr>
              <a:t>Industrial Safety AI × LinQ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1AC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1AC"/>
                </a:solidFill>
                <a:latin typeface="Helvetica Neue"/>
              </a:rPr>
              <a:t>ИЗМЕРЕНИЯ · МЕТОДОЛОГИЯ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2F3F5"/>
                </a:solidFill>
                <a:latin typeface="Helvetica Neue"/>
              </a:rPr>
              <a:t>Четыре разных режима — не смешивать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6070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828800"/>
                <a:gridCol w="4572000"/>
              </a:tblGrid>
              <a:tr h="31089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Режим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FPS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Что это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Раздельный: Radar + TPU PPE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5.00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рабочий режим продукта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CPU Radar, без PPE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6.00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потолок аналитики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CPU Radar + CPU PPE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4.97–5.00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локальный PPE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Синхронный: ждём TPU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0.52–0.72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цена ожидания на каждом кадре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931920"/>
            <a:ext cx="105156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D5D8DD"/>
                </a:solidFill>
                <a:latin typeface="Helvetica Neue"/>
              </a:rPr>
              <a:t>—  Синхронный 0.72 FPS — не предел системы, а цена блокировки на TPU.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D5D8DD"/>
                </a:solidFill>
                <a:latin typeface="Helvetica Neue"/>
              </a:rPr>
              <a:t>—  publish входит в RPC: это не две независимые стадии.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D5D8DD"/>
                </a:solidFill>
                <a:latin typeface="Helvetica Neue"/>
              </a:rPr>
              <a:t>—  TPU worker p50 13 мс, RPC p50 1373 мс. Broker queue и scheduling отдельно не измерены —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D5D8DD"/>
                </a:solidFill>
                <a:latin typeface="Helvetica Neue"/>
              </a:rPr>
              <a:t>—  поэтому говорим «узкое место в удалённом RPC-контуре», а не «виноват VPN».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1AC"/>
                </a:solidFill>
                <a:latin typeface="Helvetica Neue"/>
              </a:rPr>
              <a:t>Industrial Safety AI × LinQ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1AC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1AC"/>
                </a:solidFill>
                <a:latin typeface="Helvetica Neue"/>
              </a:rPr>
              <a:t>ОГРАНИЧЕНИЯ · ЧЕСТНО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2F3F5"/>
                </a:solidFill>
                <a:latin typeface="Helvetica Neue"/>
              </a:rPr>
              <a:t>Что пока не работает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60704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6583680"/>
              </a:tblGrid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Ограничение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Факт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PPE на широком плане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5 FN каски, 10 FN жилета на 17 примерах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Выборка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маленькая, все люди &gt;72 px, не промточность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ROI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фактически выполнен на 1 кадре из 5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Person-детектор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CPU, не TPU (мёртвая голова person)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Аппаратная телеметрия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worker_verified=true, hardware_verified=false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Сценарии 02–08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не реализованы, кроме зон (05, частично)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Положительный бег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на реальном видео не подтверждён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715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Helvetica Neue"/>
              </a:rPr>
              <a:t>Мы показываем это сами, а не ждём вопроса жюри.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1AC"/>
                </a:solidFill>
                <a:latin typeface="Helvetica Neue"/>
              </a:rPr>
              <a:t>Industrial Safety AI × LinQ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1AC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1AC"/>
                </a:solidFill>
                <a:latin typeface="Helvetica Neue"/>
              </a:rPr>
              <a:t>ВТОРОСТЕПЕННЫЕ ВОЗМОЖНОСТИ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2F3F5"/>
                </a:solidFill>
                <a:latin typeface="Helvetica Neue"/>
              </a:rPr>
              <a:t>Что уже есть вокруг ядра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60704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5852160"/>
              </a:tblGrid>
              <a:tr h="3108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Возможность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2F3F5"/>
                          </a:solidFill>
                          <a:latin typeface="Helvetica Neue"/>
                        </a:defRPr>
                      </a:pPr>
                      <a:r>
                        <a:t>Статус</a:t>
                      </a:r>
                    </a:p>
                  </a:txBody>
                  <a:tcPr marL="73152" marR="45720" marT="27432" marB="27432">
                    <a:solidFill>
                      <a:srgbClr val="181A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Именованные зоны под камеру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есть, несколько на камеру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Подавление повторов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есть, episode_id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Журнал и фильтры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тип, камера, зона, время, статус, CSV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Решение оператора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подтвердить / отклонить, feedback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Timeline событий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есть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Несколько камер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есть; 2 камеры без PPE — 4.1–4.2 FPS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Blind Spot Guard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частично: UNKNOWN и качество наблюдения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Аналитика рисков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D5D8DD"/>
                          </a:solidFill>
                          <a:latin typeface="Helvetica Neue"/>
                        </a:defRPr>
                      </a:pPr>
                      <a:r>
                        <a:t>базовая статистика по камерам и зонам</a:t>
                      </a:r>
                    </a:p>
                  </a:txBody>
                  <a:tcPr marL="73152" marR="45720" marT="27432" marB="27432">
                    <a:solidFill>
                      <a:srgbClr val="0E0F1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1AC"/>
                </a:solidFill>
                <a:latin typeface="Helvetica Neue"/>
              </a:rPr>
              <a:t>Industrial Safety AI × LinQ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1AC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1AC"/>
                </a:solidFill>
                <a:latin typeface="Helvetica Neue"/>
              </a:rPr>
              <a:t>РАЗВИТИЕ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2F3F5"/>
                </a:solidFill>
                <a:latin typeface="Helvetica Neue"/>
              </a:rPr>
              <a:t>Куда двигаемся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Динамические риски техники: детектор погрузчика и его траектория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Human–Machine Risk: пересечение траекторий человека и машины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Blind Spot Guard: объяснимый UNKNOWN и качество наблюдения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Safety Actions: локальный звук/свет у рабочего места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Дообучение PPE на промышленных данных и калибровка камер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F2F3F5"/>
                </a:solidFill>
                <a:latin typeface="Helvetica Neue"/>
              </a:rPr>
              <a:t>—  Аудиторский архив для юриста и руководителя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1AC"/>
                </a:solidFill>
                <a:latin typeface="Helvetica Neue"/>
              </a:rPr>
              <a:t>Добавляем только после проверки на реальном видео. Ручная зона — не детектор техники.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1AC"/>
                </a:solidFill>
                <a:latin typeface="Helvetica Neue"/>
              </a:rPr>
              <a:t>Industrial Safety AI × LinQ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1AC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1AC"/>
                </a:solidFill>
                <a:latin typeface="Helvetica Neue"/>
              </a:rP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AA1AC"/>
                </a:solidFill>
                <a:latin typeface="Helvetica Neue"/>
              </a:rPr>
              <a:t>Работает сегодня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12064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F2F3F5"/>
                </a:solidFill>
                <a:latin typeface="Helvetica Neue"/>
              </a:rPr>
              <a:t>—  PPE на LinQ TPU, worker PID 7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2F3F5"/>
                </a:solidFill>
                <a:latin typeface="Helvetica Neue"/>
              </a:rPr>
              <a:t>—  5.0 FPS Radar с async TPU PPE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2F3F5"/>
                </a:solidFill>
                <a:latin typeface="Helvetica Neue"/>
              </a:rPr>
              <a:t>—  WARNING за 0.80 с до входа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2F3F5"/>
                </a:solidFill>
                <a:latin typeface="Helvetica Neue"/>
              </a:rPr>
              <a:t>—  1 инцидент на нарушение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2F3F5"/>
                </a:solidFill>
                <a:latin typeface="Helvetica Neue"/>
              </a:rPr>
              <a:t>—  H.264 Replay + журнал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71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AA1AC"/>
                </a:solidFill>
                <a:latin typeface="Helvetica Neue"/>
              </a:rPr>
              <a:t>Не заявляем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475488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D5D8DD"/>
                </a:solidFill>
                <a:latin typeface="Helvetica Neue"/>
              </a:rPr>
              <a:t>—  все восемь сценариев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D5D8DD"/>
                </a:solidFill>
                <a:latin typeface="Helvetica Neue"/>
              </a:rPr>
              <a:t>—  гарантированные 5 FPS на TPU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D5D8DD"/>
                </a:solidFill>
                <a:latin typeface="Helvetica Neue"/>
              </a:rPr>
              <a:t>—  предотвращение столкновений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D5D8DD"/>
                </a:solidFill>
                <a:latin typeface="Helvetica Neue"/>
              </a:rPr>
              <a:t>—  промышленную точность PPE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54880"/>
            <a:ext cx="10515600" cy="9525"/>
          </a:xfrm>
          <a:prstGeom prst="rect">
            <a:avLst/>
          </a:prstGeom>
          <a:solidFill>
            <a:srgbClr val="2A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2F3F5"/>
                </a:solidFill>
                <a:latin typeface="Helvetica Neue"/>
              </a:rPr>
              <a:t>Спасибо. Готовы показать живой прогон.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1AC"/>
                </a:solidFill>
                <a:latin typeface="Helvetica Neue"/>
              </a:rPr>
              <a:t>Industrial Safety AI × LinQ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1AC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